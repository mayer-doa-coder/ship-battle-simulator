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ucidity Condensed" charset="1" panose="00000600000000000000"/>
      <p:regular r:id="rId17"/>
    </p:embeddedFont>
    <p:embeddedFont>
      <p:font typeface="Anantason"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2.png" Type="http://schemas.openxmlformats.org/officeDocument/2006/relationships/image"/><Relationship Id="rId2" Target="../media/image8.png" Type="http://schemas.openxmlformats.org/officeDocument/2006/relationships/image"/><Relationship Id="rId3" Target="../media/image14.png" Type="http://schemas.openxmlformats.org/officeDocument/2006/relationships/image"/><Relationship Id="rId4" Target="../media/image16.png" Type="http://schemas.openxmlformats.org/officeDocument/2006/relationships/image"/><Relationship Id="rId5" Target="../media/image11.png" Type="http://schemas.openxmlformats.org/officeDocument/2006/relationships/image"/><Relationship Id="rId6" Target="../media/image13.png" Type="http://schemas.openxmlformats.org/officeDocument/2006/relationships/image"/><Relationship Id="rId7" Target="../media/image15.png" Type="http://schemas.openxmlformats.org/officeDocument/2006/relationships/image"/><Relationship Id="rId8" Target="../media/image9.png" Type="http://schemas.openxmlformats.org/officeDocument/2006/relationships/image"/><Relationship Id="rId9"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0FF"/>
        </a:solidFill>
      </p:bgPr>
    </p:bg>
    <p:spTree>
      <p:nvGrpSpPr>
        <p:cNvPr id="1" name=""/>
        <p:cNvGrpSpPr/>
        <p:nvPr/>
      </p:nvGrpSpPr>
      <p:grpSpPr>
        <a:xfrm>
          <a:off x="0" y="0"/>
          <a:ext cx="0" cy="0"/>
          <a:chOff x="0" y="0"/>
          <a:chExt cx="0" cy="0"/>
        </a:xfrm>
      </p:grpSpPr>
      <p:sp>
        <p:nvSpPr>
          <p:cNvPr name="Freeform 2" id="2"/>
          <p:cNvSpPr/>
          <p:nvPr/>
        </p:nvSpPr>
        <p:spPr>
          <a:xfrm flipH="false" flipV="false" rot="-8849169">
            <a:off x="-625538" y="5804319"/>
            <a:ext cx="25240972" cy="16704934"/>
          </a:xfrm>
          <a:custGeom>
            <a:avLst/>
            <a:gdLst/>
            <a:ahLst/>
            <a:cxnLst/>
            <a:rect r="r" b="b" t="t" l="l"/>
            <a:pathLst>
              <a:path h="16704934" w="25240972">
                <a:moveTo>
                  <a:pt x="0" y="0"/>
                </a:moveTo>
                <a:lnTo>
                  <a:pt x="25240972" y="0"/>
                </a:lnTo>
                <a:lnTo>
                  <a:pt x="25240972" y="16704935"/>
                </a:lnTo>
                <a:lnTo>
                  <a:pt x="0" y="16704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50266" y="5693274"/>
            <a:ext cx="6179966" cy="1146103"/>
          </a:xfrm>
          <a:custGeom>
            <a:avLst/>
            <a:gdLst/>
            <a:ahLst/>
            <a:cxnLst/>
            <a:rect r="r" b="b" t="t" l="l"/>
            <a:pathLst>
              <a:path h="1146103" w="6179966">
                <a:moveTo>
                  <a:pt x="0" y="0"/>
                </a:moveTo>
                <a:lnTo>
                  <a:pt x="6179966" y="0"/>
                </a:lnTo>
                <a:lnTo>
                  <a:pt x="6179966" y="1146103"/>
                </a:lnTo>
                <a:lnTo>
                  <a:pt x="0" y="1146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46821" y="1889493"/>
            <a:ext cx="7912479" cy="6508014"/>
          </a:xfrm>
          <a:custGeom>
            <a:avLst/>
            <a:gdLst/>
            <a:ahLst/>
            <a:cxnLst/>
            <a:rect r="r" b="b" t="t" l="l"/>
            <a:pathLst>
              <a:path h="6508014" w="7912479">
                <a:moveTo>
                  <a:pt x="0" y="0"/>
                </a:moveTo>
                <a:lnTo>
                  <a:pt x="7912479" y="0"/>
                </a:lnTo>
                <a:lnTo>
                  <a:pt x="7912479" y="6508014"/>
                </a:lnTo>
                <a:lnTo>
                  <a:pt x="0" y="6508014"/>
                </a:lnTo>
                <a:lnTo>
                  <a:pt x="0" y="0"/>
                </a:lnTo>
                <a:close/>
              </a:path>
            </a:pathLst>
          </a:custGeom>
          <a:blipFill>
            <a:blip r:embed="rId6"/>
            <a:stretch>
              <a:fillRect l="0" t="0" r="0" b="0"/>
            </a:stretch>
          </a:blipFill>
        </p:spPr>
      </p:sp>
      <p:sp>
        <p:nvSpPr>
          <p:cNvPr name="Freeform 5" id="5"/>
          <p:cNvSpPr/>
          <p:nvPr/>
        </p:nvSpPr>
        <p:spPr>
          <a:xfrm flipH="false" flipV="false" rot="0">
            <a:off x="9346821" y="878599"/>
            <a:ext cx="776495" cy="780753"/>
          </a:xfrm>
          <a:custGeom>
            <a:avLst/>
            <a:gdLst/>
            <a:ahLst/>
            <a:cxnLst/>
            <a:rect r="r" b="b" t="t" l="l"/>
            <a:pathLst>
              <a:path h="780753" w="776495">
                <a:moveTo>
                  <a:pt x="0" y="0"/>
                </a:moveTo>
                <a:lnTo>
                  <a:pt x="776494" y="0"/>
                </a:lnTo>
                <a:lnTo>
                  <a:pt x="776494" y="780753"/>
                </a:lnTo>
                <a:lnTo>
                  <a:pt x="0" y="780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28700" y="1268975"/>
            <a:ext cx="477929" cy="480551"/>
          </a:xfrm>
          <a:custGeom>
            <a:avLst/>
            <a:gdLst/>
            <a:ahLst/>
            <a:cxnLst/>
            <a:rect r="r" b="b" t="t" l="l"/>
            <a:pathLst>
              <a:path h="480551" w="477929">
                <a:moveTo>
                  <a:pt x="0" y="0"/>
                </a:moveTo>
                <a:lnTo>
                  <a:pt x="477929" y="0"/>
                </a:lnTo>
                <a:lnTo>
                  <a:pt x="477929" y="480551"/>
                </a:lnTo>
                <a:lnTo>
                  <a:pt x="0" y="4805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7" id="7"/>
          <p:cNvSpPr/>
          <p:nvPr/>
        </p:nvSpPr>
        <p:spPr>
          <a:xfrm flipH="false" flipV="false" rot="0">
            <a:off x="16957687" y="2123615"/>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850227" y="1640302"/>
            <a:ext cx="6602331" cy="3979407"/>
          </a:xfrm>
          <a:prstGeom prst="rect">
            <a:avLst/>
          </a:prstGeom>
        </p:spPr>
        <p:txBody>
          <a:bodyPr anchor="t" rtlCol="false" tIns="0" lIns="0" bIns="0" rIns="0">
            <a:spAutoFit/>
          </a:bodyPr>
          <a:lstStyle/>
          <a:p>
            <a:pPr algn="ctr">
              <a:lnSpc>
                <a:spcPts val="31348"/>
              </a:lnSpc>
              <a:spcBef>
                <a:spcPct val="0"/>
              </a:spcBef>
            </a:pPr>
            <a:r>
              <a:rPr lang="en-US" sz="26124">
                <a:solidFill>
                  <a:srgbClr val="3E5893"/>
                </a:solidFill>
                <a:latin typeface="Lucidity Condensed"/>
                <a:ea typeface="Lucidity Condensed"/>
                <a:cs typeface="Lucidity Condensed"/>
                <a:sym typeface="Lucidity Condensed"/>
              </a:rPr>
              <a:t>Ship</a:t>
            </a:r>
            <a:r>
              <a:rPr lang="en-US" sz="26124">
                <a:solidFill>
                  <a:srgbClr val="3E5893"/>
                </a:solidFill>
                <a:latin typeface="Lucidity Condensed"/>
                <a:ea typeface="Lucidity Condensed"/>
                <a:cs typeface="Lucidity Condensed"/>
                <a:sym typeface="Lucidity Condensed"/>
              </a:rPr>
              <a:t>s</a:t>
            </a:r>
          </a:p>
        </p:txBody>
      </p:sp>
      <p:sp>
        <p:nvSpPr>
          <p:cNvPr name="TextBox 9" id="9"/>
          <p:cNvSpPr txBox="true"/>
          <p:nvPr/>
        </p:nvSpPr>
        <p:spPr>
          <a:xfrm rot="0">
            <a:off x="2391823" y="5990646"/>
            <a:ext cx="5174059" cy="662767"/>
          </a:xfrm>
          <a:prstGeom prst="rect">
            <a:avLst/>
          </a:prstGeom>
        </p:spPr>
        <p:txBody>
          <a:bodyPr anchor="t" rtlCol="false" tIns="0" lIns="0" bIns="0" rIns="0">
            <a:spAutoFit/>
          </a:bodyPr>
          <a:lstStyle/>
          <a:p>
            <a:pPr algn="ctr">
              <a:lnSpc>
                <a:spcPts val="5299"/>
              </a:lnSpc>
              <a:spcBef>
                <a:spcPct val="0"/>
              </a:spcBef>
            </a:pPr>
            <a:r>
              <a:rPr lang="en-US" sz="4415">
                <a:solidFill>
                  <a:srgbClr val="3E5893"/>
                </a:solidFill>
                <a:latin typeface="Anantason"/>
                <a:ea typeface="Anantason"/>
                <a:cs typeface="Anantason"/>
                <a:sym typeface="Anantason"/>
              </a:rPr>
              <a:t>Mast</a:t>
            </a:r>
            <a:r>
              <a:rPr lang="en-US" sz="4415">
                <a:solidFill>
                  <a:srgbClr val="3E5893"/>
                </a:solidFill>
                <a:latin typeface="Anantason"/>
                <a:ea typeface="Anantason"/>
                <a:cs typeface="Anantason"/>
                <a:sym typeface="Anantason"/>
              </a:rPr>
              <a:t>ers Of The Seas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TextBox 2" id="2"/>
          <p:cNvSpPr txBox="true"/>
          <p:nvPr/>
        </p:nvSpPr>
        <p:spPr>
          <a:xfrm rot="0">
            <a:off x="8186234" y="1834850"/>
            <a:ext cx="8814692"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Introduction To </a:t>
            </a:r>
            <a:r>
              <a:rPr lang="en-US" sz="10238">
                <a:solidFill>
                  <a:srgbClr val="3E5893"/>
                </a:solidFill>
                <a:latin typeface="Lucidity Condensed"/>
                <a:ea typeface="Lucidity Condensed"/>
                <a:cs typeface="Lucidity Condensed"/>
                <a:sym typeface="Lucidity Condensed"/>
              </a:rPr>
              <a:t>Ship</a:t>
            </a:r>
            <a:r>
              <a:rPr lang="en-US" sz="10238">
                <a:solidFill>
                  <a:srgbClr val="3E5893"/>
                </a:solidFill>
                <a:latin typeface="Lucidity Condensed"/>
                <a:ea typeface="Lucidity Condensed"/>
                <a:cs typeface="Lucidity Condensed"/>
                <a:sym typeface="Lucidity Condensed"/>
              </a:rPr>
              <a:t>s</a:t>
            </a:r>
          </a:p>
        </p:txBody>
      </p:sp>
      <p:sp>
        <p:nvSpPr>
          <p:cNvPr name="TextBox 3" id="3"/>
          <p:cNvSpPr txBox="true"/>
          <p:nvPr/>
        </p:nvSpPr>
        <p:spPr>
          <a:xfrm rot="0">
            <a:off x="8670282" y="5045334"/>
            <a:ext cx="7846596" cy="2870812"/>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Ships are large w</a:t>
            </a:r>
            <a:r>
              <a:rPr lang="en-US" sz="2741">
                <a:solidFill>
                  <a:srgbClr val="3E5893"/>
                </a:solidFill>
                <a:latin typeface="Anantason"/>
                <a:ea typeface="Anantason"/>
                <a:cs typeface="Anantason"/>
                <a:sym typeface="Anantason"/>
              </a:rPr>
              <a:t>atercraft designed to transport p</a:t>
            </a:r>
            <a:r>
              <a:rPr lang="en-US" sz="2741">
                <a:solidFill>
                  <a:srgbClr val="3E5893"/>
                </a:solidFill>
                <a:latin typeface="Anantason"/>
                <a:ea typeface="Anantason"/>
                <a:cs typeface="Anantason"/>
                <a:sym typeface="Anantason"/>
              </a:rPr>
              <a:t>eople, goods, and resources across oceans, rivers, and lakes. Throughout history, they have played a crucial role in exploration, trade, and cultural exchange. Modern ships continue to connect nations while supporting global commerce and transportation networks.</a:t>
            </a:r>
          </a:p>
        </p:txBody>
      </p:sp>
      <p:sp>
        <p:nvSpPr>
          <p:cNvPr name="Freeform 4" id="4"/>
          <p:cNvSpPr/>
          <p:nvPr/>
        </p:nvSpPr>
        <p:spPr>
          <a:xfrm flipH="false" flipV="false" rot="-8849169">
            <a:off x="-1632315" y="7313931"/>
            <a:ext cx="25240972" cy="16704934"/>
          </a:xfrm>
          <a:custGeom>
            <a:avLst/>
            <a:gdLst/>
            <a:ahLst/>
            <a:cxnLst/>
            <a:rect r="r" b="b" t="t" l="l"/>
            <a:pathLst>
              <a:path h="16704934" w="25240972">
                <a:moveTo>
                  <a:pt x="0" y="0"/>
                </a:moveTo>
                <a:lnTo>
                  <a:pt x="25240973" y="0"/>
                </a:lnTo>
                <a:lnTo>
                  <a:pt x="25240973"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266845" y="2672114"/>
            <a:ext cx="8147498" cy="7607726"/>
          </a:xfrm>
          <a:custGeom>
            <a:avLst/>
            <a:gdLst/>
            <a:ahLst/>
            <a:cxnLst/>
            <a:rect r="r" b="b" t="t" l="l"/>
            <a:pathLst>
              <a:path h="7607726" w="8147498">
                <a:moveTo>
                  <a:pt x="8147498" y="0"/>
                </a:moveTo>
                <a:lnTo>
                  <a:pt x="0" y="0"/>
                </a:lnTo>
                <a:lnTo>
                  <a:pt x="0" y="7607726"/>
                </a:lnTo>
                <a:lnTo>
                  <a:pt x="8147498" y="7607726"/>
                </a:lnTo>
                <a:lnTo>
                  <a:pt x="8147498" y="0"/>
                </a:lnTo>
                <a:close/>
              </a:path>
            </a:pathLst>
          </a:custGeom>
          <a:blipFill>
            <a:blip r:embed="rId4"/>
            <a:stretch>
              <a:fillRect l="0" t="0" r="0" b="0"/>
            </a:stretch>
          </a:blipFill>
        </p:spPr>
      </p:sp>
      <p:sp>
        <p:nvSpPr>
          <p:cNvPr name="Freeform 6" id="6"/>
          <p:cNvSpPr/>
          <p:nvPr/>
        </p:nvSpPr>
        <p:spPr>
          <a:xfrm flipH="false" flipV="false" rot="0">
            <a:off x="6336680" y="1058777"/>
            <a:ext cx="776495" cy="780753"/>
          </a:xfrm>
          <a:custGeom>
            <a:avLst/>
            <a:gdLst/>
            <a:ahLst/>
            <a:cxnLst/>
            <a:rect r="r" b="b" t="t" l="l"/>
            <a:pathLst>
              <a:path h="780753" w="776495">
                <a:moveTo>
                  <a:pt x="0" y="0"/>
                </a:moveTo>
                <a:lnTo>
                  <a:pt x="776494" y="0"/>
                </a:lnTo>
                <a:lnTo>
                  <a:pt x="776494" y="780754"/>
                </a:lnTo>
                <a:lnTo>
                  <a:pt x="0" y="7807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1028700" y="2464373"/>
            <a:ext cx="477929" cy="480551"/>
          </a:xfrm>
          <a:custGeom>
            <a:avLst/>
            <a:gdLst/>
            <a:ahLst/>
            <a:cxnLst/>
            <a:rect r="r" b="b" t="t" l="l"/>
            <a:pathLst>
              <a:path h="480551" w="477929">
                <a:moveTo>
                  <a:pt x="0" y="0"/>
                </a:moveTo>
                <a:lnTo>
                  <a:pt x="477929" y="0"/>
                </a:lnTo>
                <a:lnTo>
                  <a:pt x="477929" y="480550"/>
                </a:lnTo>
                <a:lnTo>
                  <a:pt x="0" y="480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8" id="8"/>
          <p:cNvSpPr/>
          <p:nvPr/>
        </p:nvSpPr>
        <p:spPr>
          <a:xfrm flipH="false" flipV="false" rot="0">
            <a:off x="16957687" y="3715161"/>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530940">
            <a:off x="181634" y="6778795"/>
            <a:ext cx="25240972" cy="16704934"/>
          </a:xfrm>
          <a:custGeom>
            <a:avLst/>
            <a:gdLst/>
            <a:ahLst/>
            <a:cxnLst/>
            <a:rect r="r" b="b" t="t" l="l"/>
            <a:pathLst>
              <a:path h="16704934" w="25240972">
                <a:moveTo>
                  <a:pt x="0" y="0"/>
                </a:moveTo>
                <a:lnTo>
                  <a:pt x="25240972" y="0"/>
                </a:lnTo>
                <a:lnTo>
                  <a:pt x="25240972"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62582" y="2099420"/>
            <a:ext cx="6312057"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A Brief H</a:t>
            </a:r>
            <a:r>
              <a:rPr lang="en-US" sz="10238">
                <a:solidFill>
                  <a:srgbClr val="3E5893"/>
                </a:solidFill>
                <a:latin typeface="Lucidity Condensed"/>
                <a:ea typeface="Lucidity Condensed"/>
                <a:cs typeface="Lucidity Condensed"/>
                <a:sym typeface="Lucidity Condensed"/>
              </a:rPr>
              <a:t>i</a:t>
            </a:r>
            <a:r>
              <a:rPr lang="en-US" sz="10238">
                <a:solidFill>
                  <a:srgbClr val="3E5893"/>
                </a:solidFill>
                <a:latin typeface="Lucidity Condensed"/>
                <a:ea typeface="Lucidity Condensed"/>
                <a:cs typeface="Lucidity Condensed"/>
                <a:sym typeface="Lucidity Condensed"/>
              </a:rPr>
              <a:t>story</a:t>
            </a:r>
          </a:p>
        </p:txBody>
      </p:sp>
      <p:sp>
        <p:nvSpPr>
          <p:cNvPr name="TextBox 4" id="4"/>
          <p:cNvSpPr txBox="true"/>
          <p:nvPr/>
        </p:nvSpPr>
        <p:spPr>
          <a:xfrm rot="0">
            <a:off x="8878822" y="1573111"/>
            <a:ext cx="7846596"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The developmen</a:t>
            </a:r>
            <a:r>
              <a:rPr lang="en-US" sz="2741">
                <a:solidFill>
                  <a:srgbClr val="3E5893"/>
                </a:solidFill>
                <a:latin typeface="Anantason"/>
                <a:ea typeface="Anantason"/>
                <a:cs typeface="Anantason"/>
                <a:sym typeface="Anantason"/>
              </a:rPr>
              <a:t>t of ships spans thousands of years, fr</a:t>
            </a:r>
            <a:r>
              <a:rPr lang="en-US" sz="2741">
                <a:solidFill>
                  <a:srgbClr val="3E5893"/>
                </a:solidFill>
                <a:latin typeface="Anantason"/>
                <a:ea typeface="Anantason"/>
                <a:cs typeface="Anantason"/>
                <a:sym typeface="Anantason"/>
              </a:rPr>
              <a:t>om simple wooden vessels to advanced steel-engineered designs. Early civilizations relied on ships for fishing and trade, while later innovations enabled long-distance voyages. Maritime advancements transformed exploration, expanded economies, and shaped the course of world history.</a:t>
            </a:r>
          </a:p>
        </p:txBody>
      </p:sp>
      <p:sp>
        <p:nvSpPr>
          <p:cNvPr name="Freeform 5" id="5"/>
          <p:cNvSpPr/>
          <p:nvPr/>
        </p:nvSpPr>
        <p:spPr>
          <a:xfrm flipH="false" flipV="false" rot="0">
            <a:off x="4313509" y="4855399"/>
            <a:ext cx="10979459" cy="5119173"/>
          </a:xfrm>
          <a:custGeom>
            <a:avLst/>
            <a:gdLst/>
            <a:ahLst/>
            <a:cxnLst/>
            <a:rect r="r" b="b" t="t" l="l"/>
            <a:pathLst>
              <a:path h="5119173" w="10979459">
                <a:moveTo>
                  <a:pt x="0" y="0"/>
                </a:moveTo>
                <a:lnTo>
                  <a:pt x="10979460" y="0"/>
                </a:lnTo>
                <a:lnTo>
                  <a:pt x="10979460" y="5119173"/>
                </a:lnTo>
                <a:lnTo>
                  <a:pt x="0" y="5119173"/>
                </a:lnTo>
                <a:lnTo>
                  <a:pt x="0" y="0"/>
                </a:lnTo>
                <a:close/>
              </a:path>
            </a:pathLst>
          </a:custGeom>
          <a:blipFill>
            <a:blip r:embed="rId4"/>
            <a:stretch>
              <a:fillRect l="0" t="0" r="0" b="0"/>
            </a:stretch>
          </a:blipFill>
        </p:spPr>
      </p:sp>
      <p:sp>
        <p:nvSpPr>
          <p:cNvPr name="Freeform 6" id="6"/>
          <p:cNvSpPr/>
          <p:nvPr/>
        </p:nvSpPr>
        <p:spPr>
          <a:xfrm flipH="false" flipV="false" rot="0">
            <a:off x="7340251" y="1028700"/>
            <a:ext cx="534389" cy="537320"/>
          </a:xfrm>
          <a:custGeom>
            <a:avLst/>
            <a:gdLst/>
            <a:ahLst/>
            <a:cxnLst/>
            <a:rect r="r" b="b" t="t" l="l"/>
            <a:pathLst>
              <a:path h="537320" w="534389">
                <a:moveTo>
                  <a:pt x="0" y="0"/>
                </a:moveTo>
                <a:lnTo>
                  <a:pt x="534389" y="0"/>
                </a:lnTo>
                <a:lnTo>
                  <a:pt x="534389" y="537320"/>
                </a:lnTo>
                <a:lnTo>
                  <a:pt x="0" y="5373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1562582" y="5696185"/>
            <a:ext cx="842192" cy="846811"/>
          </a:xfrm>
          <a:custGeom>
            <a:avLst/>
            <a:gdLst/>
            <a:ahLst/>
            <a:cxnLst/>
            <a:rect r="r" b="b" t="t" l="l"/>
            <a:pathLst>
              <a:path h="846811" w="842192">
                <a:moveTo>
                  <a:pt x="0" y="0"/>
                </a:moveTo>
                <a:lnTo>
                  <a:pt x="842192" y="0"/>
                </a:lnTo>
                <a:lnTo>
                  <a:pt x="842192" y="846810"/>
                </a:lnTo>
                <a:lnTo>
                  <a:pt x="0" y="8468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8" id="8"/>
          <p:cNvSpPr/>
          <p:nvPr/>
        </p:nvSpPr>
        <p:spPr>
          <a:xfrm flipH="false" flipV="false" rot="0">
            <a:off x="16790457" y="5936460"/>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712194">
            <a:off x="2509702" y="6737221"/>
            <a:ext cx="25240972" cy="16704934"/>
          </a:xfrm>
          <a:custGeom>
            <a:avLst/>
            <a:gdLst/>
            <a:ahLst/>
            <a:cxnLst/>
            <a:rect r="r" b="b" t="t" l="l"/>
            <a:pathLst>
              <a:path h="16704934" w="25240972">
                <a:moveTo>
                  <a:pt x="0" y="0"/>
                </a:moveTo>
                <a:lnTo>
                  <a:pt x="25240972" y="0"/>
                </a:lnTo>
                <a:lnTo>
                  <a:pt x="25240972" y="16704935"/>
                </a:lnTo>
                <a:lnTo>
                  <a:pt x="0" y="16704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6654" y="2046190"/>
            <a:ext cx="8814692" cy="1292118"/>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Types Of Sh</a:t>
            </a:r>
            <a:r>
              <a:rPr lang="en-US" sz="10238">
                <a:solidFill>
                  <a:srgbClr val="3E5893"/>
                </a:solidFill>
                <a:latin typeface="Lucidity Condensed"/>
                <a:ea typeface="Lucidity Condensed"/>
                <a:cs typeface="Lucidity Condensed"/>
                <a:sym typeface="Lucidity Condensed"/>
              </a:rPr>
              <a:t>ip</a:t>
            </a:r>
            <a:r>
              <a:rPr lang="en-US" sz="10238">
                <a:solidFill>
                  <a:srgbClr val="3E5893"/>
                </a:solidFill>
                <a:latin typeface="Lucidity Condensed"/>
                <a:ea typeface="Lucidity Condensed"/>
                <a:cs typeface="Lucidity Condensed"/>
                <a:sym typeface="Lucidity Condensed"/>
              </a:rPr>
              <a:t>s</a:t>
            </a:r>
          </a:p>
        </p:txBody>
      </p:sp>
      <p:sp>
        <p:nvSpPr>
          <p:cNvPr name="TextBox 4" id="4"/>
          <p:cNvSpPr txBox="true"/>
          <p:nvPr/>
        </p:nvSpPr>
        <p:spPr>
          <a:xfrm rot="0">
            <a:off x="1971409" y="4077493"/>
            <a:ext cx="6770463"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Ships are designed for differen</a:t>
            </a:r>
            <a:r>
              <a:rPr lang="en-US" sz="2741">
                <a:solidFill>
                  <a:srgbClr val="3E5893"/>
                </a:solidFill>
                <a:latin typeface="Anantason"/>
                <a:ea typeface="Anantason"/>
                <a:cs typeface="Anantason"/>
                <a:sym typeface="Anantason"/>
              </a:rPr>
              <a:t>t purposes, including carg</a:t>
            </a:r>
            <a:r>
              <a:rPr lang="en-US" sz="2741">
                <a:solidFill>
                  <a:srgbClr val="3E5893"/>
                </a:solidFill>
                <a:latin typeface="Anantason"/>
                <a:ea typeface="Anantason"/>
                <a:cs typeface="Anantason"/>
                <a:sym typeface="Anantason"/>
              </a:rPr>
              <a:t>o transport, passenger travel, fishing, research, and military operations. Each type features specialized structures and equipment suited to its function. This diversity allows maritime industries to meet a wide range of transportation and operational requirements efficiently.</a:t>
            </a:r>
          </a:p>
        </p:txBody>
      </p:sp>
      <p:sp>
        <p:nvSpPr>
          <p:cNvPr name="Freeform 5" id="5"/>
          <p:cNvSpPr/>
          <p:nvPr/>
        </p:nvSpPr>
        <p:spPr>
          <a:xfrm flipH="false" flipV="false" rot="0">
            <a:off x="10309362" y="3073461"/>
            <a:ext cx="7283834" cy="6473507"/>
          </a:xfrm>
          <a:custGeom>
            <a:avLst/>
            <a:gdLst/>
            <a:ahLst/>
            <a:cxnLst/>
            <a:rect r="r" b="b" t="t" l="l"/>
            <a:pathLst>
              <a:path h="6473507" w="7283834">
                <a:moveTo>
                  <a:pt x="0" y="0"/>
                </a:moveTo>
                <a:lnTo>
                  <a:pt x="7283834" y="0"/>
                </a:lnTo>
                <a:lnTo>
                  <a:pt x="7283834" y="6473508"/>
                </a:lnTo>
                <a:lnTo>
                  <a:pt x="0" y="6473508"/>
                </a:lnTo>
                <a:lnTo>
                  <a:pt x="0" y="0"/>
                </a:lnTo>
                <a:close/>
              </a:path>
            </a:pathLst>
          </a:custGeom>
          <a:blipFill>
            <a:blip r:embed="rId4"/>
            <a:stretch>
              <a:fillRect l="0" t="0" r="0" b="0"/>
            </a:stretch>
          </a:blipFill>
        </p:spPr>
      </p:sp>
      <p:sp>
        <p:nvSpPr>
          <p:cNvPr name="Freeform 6" id="6"/>
          <p:cNvSpPr/>
          <p:nvPr/>
        </p:nvSpPr>
        <p:spPr>
          <a:xfrm flipH="false" flipV="false" rot="0">
            <a:off x="2061091" y="1302005"/>
            <a:ext cx="776495" cy="780753"/>
          </a:xfrm>
          <a:custGeom>
            <a:avLst/>
            <a:gdLst/>
            <a:ahLst/>
            <a:cxnLst/>
            <a:rect r="r" b="b" t="t" l="l"/>
            <a:pathLst>
              <a:path h="780753" w="776495">
                <a:moveTo>
                  <a:pt x="0" y="0"/>
                </a:moveTo>
                <a:lnTo>
                  <a:pt x="776495" y="0"/>
                </a:lnTo>
                <a:lnTo>
                  <a:pt x="776495" y="780753"/>
                </a:lnTo>
                <a:lnTo>
                  <a:pt x="0" y="780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1971409" y="8269355"/>
            <a:ext cx="477929" cy="480551"/>
          </a:xfrm>
          <a:custGeom>
            <a:avLst/>
            <a:gdLst/>
            <a:ahLst/>
            <a:cxnLst/>
            <a:rect r="r" b="b" t="t" l="l"/>
            <a:pathLst>
              <a:path h="480551" w="477929">
                <a:moveTo>
                  <a:pt x="0" y="0"/>
                </a:moveTo>
                <a:lnTo>
                  <a:pt x="477929" y="0"/>
                </a:lnTo>
                <a:lnTo>
                  <a:pt x="477929" y="480551"/>
                </a:lnTo>
                <a:lnTo>
                  <a:pt x="0" y="4805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8" id="8"/>
          <p:cNvSpPr/>
          <p:nvPr/>
        </p:nvSpPr>
        <p:spPr>
          <a:xfrm flipH="false" flipV="false" rot="0">
            <a:off x="16389104" y="1476223"/>
            <a:ext cx="603227" cy="606535"/>
          </a:xfrm>
          <a:custGeom>
            <a:avLst/>
            <a:gdLst/>
            <a:ahLst/>
            <a:cxnLst/>
            <a:rect r="r" b="b" t="t" l="l"/>
            <a:pathLst>
              <a:path h="606535" w="603227">
                <a:moveTo>
                  <a:pt x="0" y="0"/>
                </a:moveTo>
                <a:lnTo>
                  <a:pt x="603227" y="0"/>
                </a:lnTo>
                <a:lnTo>
                  <a:pt x="603227" y="606535"/>
                </a:lnTo>
                <a:lnTo>
                  <a:pt x="0" y="6065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TextBox 2" id="2"/>
          <p:cNvSpPr txBox="true"/>
          <p:nvPr/>
        </p:nvSpPr>
        <p:spPr>
          <a:xfrm rot="0">
            <a:off x="8186234" y="1834850"/>
            <a:ext cx="8814692"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Ship Construction</a:t>
            </a:r>
          </a:p>
        </p:txBody>
      </p:sp>
      <p:sp>
        <p:nvSpPr>
          <p:cNvPr name="TextBox 3" id="3"/>
          <p:cNvSpPr txBox="true"/>
          <p:nvPr/>
        </p:nvSpPr>
        <p:spPr>
          <a:xfrm rot="0">
            <a:off x="8670282" y="5045334"/>
            <a:ext cx="7846596"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Modern shipbuilding </a:t>
            </a:r>
            <a:r>
              <a:rPr lang="en-US" sz="2741">
                <a:solidFill>
                  <a:srgbClr val="3E5893"/>
                </a:solidFill>
                <a:latin typeface="Anantason"/>
                <a:ea typeface="Anantason"/>
                <a:cs typeface="Anantason"/>
                <a:sym typeface="Anantason"/>
              </a:rPr>
              <a:t>combines engineering expertis</a:t>
            </a:r>
            <a:r>
              <a:rPr lang="en-US" sz="2741">
                <a:solidFill>
                  <a:srgbClr val="3E5893"/>
                </a:solidFill>
                <a:latin typeface="Anantason"/>
                <a:ea typeface="Anantason"/>
                <a:cs typeface="Anantason"/>
                <a:sym typeface="Anantason"/>
              </a:rPr>
              <a:t>e, durable materials, and advanced technologies. Hull design, structural integrity, and propulsion systems are carefully planned to ensure safety and performance. Shipyards around the world construct vessels capable of operating in diverse marine environments while meeting strict international standards.</a:t>
            </a:r>
          </a:p>
        </p:txBody>
      </p:sp>
      <p:sp>
        <p:nvSpPr>
          <p:cNvPr name="Freeform 4" id="4"/>
          <p:cNvSpPr/>
          <p:nvPr/>
        </p:nvSpPr>
        <p:spPr>
          <a:xfrm flipH="false" flipV="false" rot="-8849169">
            <a:off x="-1632315" y="7313931"/>
            <a:ext cx="25240972" cy="16704934"/>
          </a:xfrm>
          <a:custGeom>
            <a:avLst/>
            <a:gdLst/>
            <a:ahLst/>
            <a:cxnLst/>
            <a:rect r="r" b="b" t="t" l="l"/>
            <a:pathLst>
              <a:path h="16704934" w="25240972">
                <a:moveTo>
                  <a:pt x="0" y="0"/>
                </a:moveTo>
                <a:lnTo>
                  <a:pt x="25240973" y="0"/>
                </a:lnTo>
                <a:lnTo>
                  <a:pt x="25240973"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336680" y="1058777"/>
            <a:ext cx="776495" cy="780753"/>
          </a:xfrm>
          <a:custGeom>
            <a:avLst/>
            <a:gdLst/>
            <a:ahLst/>
            <a:cxnLst/>
            <a:rect r="r" b="b" t="t" l="l"/>
            <a:pathLst>
              <a:path h="780753" w="776495">
                <a:moveTo>
                  <a:pt x="0" y="0"/>
                </a:moveTo>
                <a:lnTo>
                  <a:pt x="776494" y="0"/>
                </a:lnTo>
                <a:lnTo>
                  <a:pt x="776494" y="780754"/>
                </a:lnTo>
                <a:lnTo>
                  <a:pt x="0" y="780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028700" y="2464373"/>
            <a:ext cx="477929" cy="480551"/>
          </a:xfrm>
          <a:custGeom>
            <a:avLst/>
            <a:gdLst/>
            <a:ahLst/>
            <a:cxnLst/>
            <a:rect r="r" b="b" t="t" l="l"/>
            <a:pathLst>
              <a:path h="480551" w="477929">
                <a:moveTo>
                  <a:pt x="0" y="0"/>
                </a:moveTo>
                <a:lnTo>
                  <a:pt x="477929" y="0"/>
                </a:lnTo>
                <a:lnTo>
                  <a:pt x="477929" y="480550"/>
                </a:lnTo>
                <a:lnTo>
                  <a:pt x="0" y="480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6957687" y="3715161"/>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06629" y="3204115"/>
            <a:ext cx="6311844" cy="6955200"/>
          </a:xfrm>
          <a:custGeom>
            <a:avLst/>
            <a:gdLst/>
            <a:ahLst/>
            <a:cxnLst/>
            <a:rect r="r" b="b" t="t" l="l"/>
            <a:pathLst>
              <a:path h="6955200" w="6311844">
                <a:moveTo>
                  <a:pt x="0" y="0"/>
                </a:moveTo>
                <a:lnTo>
                  <a:pt x="6311844" y="0"/>
                </a:lnTo>
                <a:lnTo>
                  <a:pt x="6311844" y="6955200"/>
                </a:lnTo>
                <a:lnTo>
                  <a:pt x="0" y="6955200"/>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530940">
            <a:off x="181634" y="6778795"/>
            <a:ext cx="25240972" cy="16704934"/>
          </a:xfrm>
          <a:custGeom>
            <a:avLst/>
            <a:gdLst/>
            <a:ahLst/>
            <a:cxnLst/>
            <a:rect r="r" b="b" t="t" l="l"/>
            <a:pathLst>
              <a:path h="16704934" w="25240972">
                <a:moveTo>
                  <a:pt x="0" y="0"/>
                </a:moveTo>
                <a:lnTo>
                  <a:pt x="25240972" y="0"/>
                </a:lnTo>
                <a:lnTo>
                  <a:pt x="25240972"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80591" y="2099420"/>
            <a:ext cx="7476040"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Navigation Sy</a:t>
            </a:r>
            <a:r>
              <a:rPr lang="en-US" sz="10238">
                <a:solidFill>
                  <a:srgbClr val="3E5893"/>
                </a:solidFill>
                <a:latin typeface="Lucidity Condensed"/>
                <a:ea typeface="Lucidity Condensed"/>
                <a:cs typeface="Lucidity Condensed"/>
                <a:sym typeface="Lucidity Condensed"/>
              </a:rPr>
              <a:t>stems</a:t>
            </a:r>
          </a:p>
        </p:txBody>
      </p:sp>
      <p:sp>
        <p:nvSpPr>
          <p:cNvPr name="TextBox 4" id="4"/>
          <p:cNvSpPr txBox="true"/>
          <p:nvPr/>
        </p:nvSpPr>
        <p:spPr>
          <a:xfrm rot="0">
            <a:off x="8878822" y="1573111"/>
            <a:ext cx="7846596" cy="2870812"/>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Navigation</a:t>
            </a:r>
            <a:r>
              <a:rPr lang="en-US" sz="2741">
                <a:solidFill>
                  <a:srgbClr val="3E5893"/>
                </a:solidFill>
                <a:latin typeface="Anantason"/>
                <a:ea typeface="Anantason"/>
                <a:cs typeface="Anantason"/>
                <a:sym typeface="Anantason"/>
              </a:rPr>
              <a:t> is essential for safe and efficient marit</a:t>
            </a:r>
            <a:r>
              <a:rPr lang="en-US" sz="2741">
                <a:solidFill>
                  <a:srgbClr val="3E5893"/>
                </a:solidFill>
                <a:latin typeface="Anantason"/>
                <a:ea typeface="Anantason"/>
                <a:cs typeface="Anantason"/>
                <a:sym typeface="Anantason"/>
              </a:rPr>
              <a:t>ime travel. Modern ships rely on GPS, radar, communication systems, and digital mapping technologies to determine position and route. These tools help crews avoid hazards, manage weather conditions, and maintain accurate travel schedules across global waterways.</a:t>
            </a:r>
          </a:p>
        </p:txBody>
      </p:sp>
      <p:sp>
        <p:nvSpPr>
          <p:cNvPr name="Freeform 5" id="5"/>
          <p:cNvSpPr/>
          <p:nvPr/>
        </p:nvSpPr>
        <p:spPr>
          <a:xfrm flipH="false" flipV="false" rot="0">
            <a:off x="7340251" y="1028700"/>
            <a:ext cx="534389" cy="537320"/>
          </a:xfrm>
          <a:custGeom>
            <a:avLst/>
            <a:gdLst/>
            <a:ahLst/>
            <a:cxnLst/>
            <a:rect r="r" b="b" t="t" l="l"/>
            <a:pathLst>
              <a:path h="537320" w="534389">
                <a:moveTo>
                  <a:pt x="0" y="0"/>
                </a:moveTo>
                <a:lnTo>
                  <a:pt x="534389" y="0"/>
                </a:lnTo>
                <a:lnTo>
                  <a:pt x="534389" y="537320"/>
                </a:lnTo>
                <a:lnTo>
                  <a:pt x="0" y="537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562582" y="5696185"/>
            <a:ext cx="842192" cy="846811"/>
          </a:xfrm>
          <a:custGeom>
            <a:avLst/>
            <a:gdLst/>
            <a:ahLst/>
            <a:cxnLst/>
            <a:rect r="r" b="b" t="t" l="l"/>
            <a:pathLst>
              <a:path h="846811" w="842192">
                <a:moveTo>
                  <a:pt x="0" y="0"/>
                </a:moveTo>
                <a:lnTo>
                  <a:pt x="842192" y="0"/>
                </a:lnTo>
                <a:lnTo>
                  <a:pt x="842192" y="846810"/>
                </a:lnTo>
                <a:lnTo>
                  <a:pt x="0" y="8468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6790457" y="5936460"/>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192207" y="4852965"/>
            <a:ext cx="5903587" cy="5143500"/>
          </a:xfrm>
          <a:custGeom>
            <a:avLst/>
            <a:gdLst/>
            <a:ahLst/>
            <a:cxnLst/>
            <a:rect r="r" b="b" t="t" l="l"/>
            <a:pathLst>
              <a:path h="5143500" w="5903587">
                <a:moveTo>
                  <a:pt x="0" y="0"/>
                </a:moveTo>
                <a:lnTo>
                  <a:pt x="5903586" y="0"/>
                </a:lnTo>
                <a:lnTo>
                  <a:pt x="5903586" y="5143500"/>
                </a:lnTo>
                <a:lnTo>
                  <a:pt x="0" y="5143500"/>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712194">
            <a:off x="2509702" y="6737221"/>
            <a:ext cx="25240972" cy="16704934"/>
          </a:xfrm>
          <a:custGeom>
            <a:avLst/>
            <a:gdLst/>
            <a:ahLst/>
            <a:cxnLst/>
            <a:rect r="r" b="b" t="t" l="l"/>
            <a:pathLst>
              <a:path h="16704934" w="25240972">
                <a:moveTo>
                  <a:pt x="0" y="0"/>
                </a:moveTo>
                <a:lnTo>
                  <a:pt x="25240972" y="0"/>
                </a:lnTo>
                <a:lnTo>
                  <a:pt x="25240972" y="16704935"/>
                </a:lnTo>
                <a:lnTo>
                  <a:pt x="0" y="16704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6654" y="1295400"/>
            <a:ext cx="8814692"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Global Trade And Trans</a:t>
            </a:r>
            <a:r>
              <a:rPr lang="en-US" sz="10238">
                <a:solidFill>
                  <a:srgbClr val="3E5893"/>
                </a:solidFill>
                <a:latin typeface="Lucidity Condensed"/>
                <a:ea typeface="Lucidity Condensed"/>
                <a:cs typeface="Lucidity Condensed"/>
                <a:sym typeface="Lucidity Condensed"/>
              </a:rPr>
              <a:t>port</a:t>
            </a:r>
          </a:p>
        </p:txBody>
      </p:sp>
      <p:sp>
        <p:nvSpPr>
          <p:cNvPr name="TextBox 4" id="4"/>
          <p:cNvSpPr txBox="true"/>
          <p:nvPr/>
        </p:nvSpPr>
        <p:spPr>
          <a:xfrm rot="0">
            <a:off x="1971409" y="4077493"/>
            <a:ext cx="6770463" cy="3693765"/>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Ships carry the majority of interna</a:t>
            </a:r>
            <a:r>
              <a:rPr lang="en-US" sz="2741">
                <a:solidFill>
                  <a:srgbClr val="3E5893"/>
                </a:solidFill>
                <a:latin typeface="Anantason"/>
                <a:ea typeface="Anantason"/>
                <a:cs typeface="Anantason"/>
                <a:sym typeface="Anantason"/>
              </a:rPr>
              <a:t>tional trade by volume,</a:t>
            </a:r>
            <a:r>
              <a:rPr lang="en-US" sz="2741">
                <a:solidFill>
                  <a:srgbClr val="3E5893"/>
                </a:solidFill>
                <a:latin typeface="Anantason"/>
                <a:ea typeface="Anantason"/>
                <a:cs typeface="Anantason"/>
                <a:sym typeface="Anantason"/>
              </a:rPr>
              <a:t> transporting raw materials, manufactured goods, and consumer products between continents. Maritime transportation remains one of the most efficient methods for large-scale cargo movement. This global network supports economic growth and international cooperation worldwide.</a:t>
            </a:r>
          </a:p>
        </p:txBody>
      </p:sp>
      <p:sp>
        <p:nvSpPr>
          <p:cNvPr name="Freeform 5" id="5"/>
          <p:cNvSpPr/>
          <p:nvPr/>
        </p:nvSpPr>
        <p:spPr>
          <a:xfrm flipH="false" flipV="false" rot="0">
            <a:off x="2061091" y="1302005"/>
            <a:ext cx="776495" cy="780753"/>
          </a:xfrm>
          <a:custGeom>
            <a:avLst/>
            <a:gdLst/>
            <a:ahLst/>
            <a:cxnLst/>
            <a:rect r="r" b="b" t="t" l="l"/>
            <a:pathLst>
              <a:path h="780753" w="776495">
                <a:moveTo>
                  <a:pt x="0" y="0"/>
                </a:moveTo>
                <a:lnTo>
                  <a:pt x="776495" y="0"/>
                </a:lnTo>
                <a:lnTo>
                  <a:pt x="776495" y="780753"/>
                </a:lnTo>
                <a:lnTo>
                  <a:pt x="0" y="7807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971409" y="8269355"/>
            <a:ext cx="477929" cy="480551"/>
          </a:xfrm>
          <a:custGeom>
            <a:avLst/>
            <a:gdLst/>
            <a:ahLst/>
            <a:cxnLst/>
            <a:rect r="r" b="b" t="t" l="l"/>
            <a:pathLst>
              <a:path h="480551" w="477929">
                <a:moveTo>
                  <a:pt x="0" y="0"/>
                </a:moveTo>
                <a:lnTo>
                  <a:pt x="477929" y="0"/>
                </a:lnTo>
                <a:lnTo>
                  <a:pt x="477929" y="480551"/>
                </a:lnTo>
                <a:lnTo>
                  <a:pt x="0" y="4805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6389104" y="1476223"/>
            <a:ext cx="603227" cy="606535"/>
          </a:xfrm>
          <a:custGeom>
            <a:avLst/>
            <a:gdLst/>
            <a:ahLst/>
            <a:cxnLst/>
            <a:rect r="r" b="b" t="t" l="l"/>
            <a:pathLst>
              <a:path h="606535" w="603227">
                <a:moveTo>
                  <a:pt x="0" y="0"/>
                </a:moveTo>
                <a:lnTo>
                  <a:pt x="603227" y="0"/>
                </a:lnTo>
                <a:lnTo>
                  <a:pt x="603227"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548155" y="4489149"/>
            <a:ext cx="6444177" cy="5324501"/>
          </a:xfrm>
          <a:custGeom>
            <a:avLst/>
            <a:gdLst/>
            <a:ahLst/>
            <a:cxnLst/>
            <a:rect r="r" b="b" t="t" l="l"/>
            <a:pathLst>
              <a:path h="5324501" w="6444177">
                <a:moveTo>
                  <a:pt x="0" y="0"/>
                </a:moveTo>
                <a:lnTo>
                  <a:pt x="6444176" y="0"/>
                </a:lnTo>
                <a:lnTo>
                  <a:pt x="6444176" y="5324501"/>
                </a:lnTo>
                <a:lnTo>
                  <a:pt x="0" y="5324501"/>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TextBox 2" id="2"/>
          <p:cNvSpPr txBox="true"/>
          <p:nvPr/>
        </p:nvSpPr>
        <p:spPr>
          <a:xfrm rot="0">
            <a:off x="8186234" y="2306735"/>
            <a:ext cx="8814692" cy="1292118"/>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Life At </a:t>
            </a:r>
            <a:r>
              <a:rPr lang="en-US" sz="10238">
                <a:solidFill>
                  <a:srgbClr val="3E5893"/>
                </a:solidFill>
                <a:latin typeface="Lucidity Condensed"/>
                <a:ea typeface="Lucidity Condensed"/>
                <a:cs typeface="Lucidity Condensed"/>
                <a:sym typeface="Lucidity Condensed"/>
              </a:rPr>
              <a:t>Sea</a:t>
            </a:r>
          </a:p>
        </p:txBody>
      </p:sp>
      <p:sp>
        <p:nvSpPr>
          <p:cNvPr name="TextBox 3" id="3"/>
          <p:cNvSpPr txBox="true"/>
          <p:nvPr/>
        </p:nvSpPr>
        <p:spPr>
          <a:xfrm rot="0">
            <a:off x="8670282" y="4027953"/>
            <a:ext cx="7846596"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Life aboard a ship requires </a:t>
            </a:r>
            <a:r>
              <a:rPr lang="en-US" sz="2741">
                <a:solidFill>
                  <a:srgbClr val="3E5893"/>
                </a:solidFill>
                <a:latin typeface="Anantason"/>
                <a:ea typeface="Anantason"/>
                <a:cs typeface="Anantason"/>
                <a:sym typeface="Anantason"/>
              </a:rPr>
              <a:t>teamwork, discipline, and sp</a:t>
            </a:r>
            <a:r>
              <a:rPr lang="en-US" sz="2741">
                <a:solidFill>
                  <a:srgbClr val="3E5893"/>
                </a:solidFill>
                <a:latin typeface="Anantason"/>
                <a:ea typeface="Anantason"/>
                <a:cs typeface="Anantason"/>
                <a:sym typeface="Anantason"/>
              </a:rPr>
              <a:t>ecialized skills. Crew members perform duties related to navigation, maintenance, safety, and operations. Long voyages present unique challenges and experiences, creating a dynamic environment where cooperation and professionalism are essential for successful maritime missions.</a:t>
            </a:r>
          </a:p>
        </p:txBody>
      </p:sp>
      <p:sp>
        <p:nvSpPr>
          <p:cNvPr name="Freeform 4" id="4"/>
          <p:cNvSpPr/>
          <p:nvPr/>
        </p:nvSpPr>
        <p:spPr>
          <a:xfrm flipH="false" flipV="false" rot="-8849169">
            <a:off x="-1632315" y="7313931"/>
            <a:ext cx="25240972" cy="16704934"/>
          </a:xfrm>
          <a:custGeom>
            <a:avLst/>
            <a:gdLst/>
            <a:ahLst/>
            <a:cxnLst/>
            <a:rect r="r" b="b" t="t" l="l"/>
            <a:pathLst>
              <a:path h="16704934" w="25240972">
                <a:moveTo>
                  <a:pt x="0" y="0"/>
                </a:moveTo>
                <a:lnTo>
                  <a:pt x="25240973" y="0"/>
                </a:lnTo>
                <a:lnTo>
                  <a:pt x="25240973"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336680" y="1058777"/>
            <a:ext cx="776495" cy="780753"/>
          </a:xfrm>
          <a:custGeom>
            <a:avLst/>
            <a:gdLst/>
            <a:ahLst/>
            <a:cxnLst/>
            <a:rect r="r" b="b" t="t" l="l"/>
            <a:pathLst>
              <a:path h="780753" w="776495">
                <a:moveTo>
                  <a:pt x="0" y="0"/>
                </a:moveTo>
                <a:lnTo>
                  <a:pt x="776494" y="0"/>
                </a:lnTo>
                <a:lnTo>
                  <a:pt x="776494" y="780754"/>
                </a:lnTo>
                <a:lnTo>
                  <a:pt x="0" y="780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028700" y="2464373"/>
            <a:ext cx="477929" cy="480551"/>
          </a:xfrm>
          <a:custGeom>
            <a:avLst/>
            <a:gdLst/>
            <a:ahLst/>
            <a:cxnLst/>
            <a:rect r="r" b="b" t="t" l="l"/>
            <a:pathLst>
              <a:path h="480551" w="477929">
                <a:moveTo>
                  <a:pt x="0" y="0"/>
                </a:moveTo>
                <a:lnTo>
                  <a:pt x="477929" y="0"/>
                </a:lnTo>
                <a:lnTo>
                  <a:pt x="477929" y="480550"/>
                </a:lnTo>
                <a:lnTo>
                  <a:pt x="0" y="480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7259300" y="4344341"/>
            <a:ext cx="603227" cy="606535"/>
          </a:xfrm>
          <a:custGeom>
            <a:avLst/>
            <a:gdLst/>
            <a:ahLst/>
            <a:cxnLst/>
            <a:rect r="r" b="b" t="t" l="l"/>
            <a:pathLst>
              <a:path h="606535" w="603227">
                <a:moveTo>
                  <a:pt x="0" y="0"/>
                </a:moveTo>
                <a:lnTo>
                  <a:pt x="603227" y="0"/>
                </a:lnTo>
                <a:lnTo>
                  <a:pt x="603227"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92736" y="3130778"/>
            <a:ext cx="7788792" cy="6941761"/>
          </a:xfrm>
          <a:custGeom>
            <a:avLst/>
            <a:gdLst/>
            <a:ahLst/>
            <a:cxnLst/>
            <a:rect r="r" b="b" t="t" l="l"/>
            <a:pathLst>
              <a:path h="6941761" w="7788792">
                <a:moveTo>
                  <a:pt x="0" y="0"/>
                </a:moveTo>
                <a:lnTo>
                  <a:pt x="7788792" y="0"/>
                </a:lnTo>
                <a:lnTo>
                  <a:pt x="7788792" y="6941761"/>
                </a:lnTo>
                <a:lnTo>
                  <a:pt x="0" y="6941761"/>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530940">
            <a:off x="181634" y="6778795"/>
            <a:ext cx="25240972" cy="16704934"/>
          </a:xfrm>
          <a:custGeom>
            <a:avLst/>
            <a:gdLst/>
            <a:ahLst/>
            <a:cxnLst/>
            <a:rect r="r" b="b" t="t" l="l"/>
            <a:pathLst>
              <a:path h="16704934" w="25240972">
                <a:moveTo>
                  <a:pt x="0" y="0"/>
                </a:moveTo>
                <a:lnTo>
                  <a:pt x="25240972" y="0"/>
                </a:lnTo>
                <a:lnTo>
                  <a:pt x="25240972" y="16704934"/>
                </a:lnTo>
                <a:lnTo>
                  <a:pt x="0" y="16704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06078" y="2251984"/>
            <a:ext cx="7625066" cy="2143617"/>
          </a:xfrm>
          <a:prstGeom prst="rect">
            <a:avLst/>
          </a:prstGeom>
        </p:spPr>
        <p:txBody>
          <a:bodyPr anchor="t" rtlCol="false" tIns="0" lIns="0" bIns="0" rIns="0">
            <a:spAutoFit/>
          </a:bodyPr>
          <a:lstStyle/>
          <a:p>
            <a:pPr algn="ctr">
              <a:lnSpc>
                <a:spcPts val="8115"/>
              </a:lnSpc>
            </a:pPr>
            <a:r>
              <a:rPr lang="en-US" sz="8820">
                <a:solidFill>
                  <a:srgbClr val="3E5893"/>
                </a:solidFill>
                <a:latin typeface="Lucidity Condensed"/>
                <a:ea typeface="Lucidity Condensed"/>
                <a:cs typeface="Lucidity Condensed"/>
                <a:sym typeface="Lucidity Condensed"/>
              </a:rPr>
              <a:t>Environmental Responsibil</a:t>
            </a:r>
            <a:r>
              <a:rPr lang="en-US" sz="8820">
                <a:solidFill>
                  <a:srgbClr val="3E5893"/>
                </a:solidFill>
                <a:latin typeface="Lucidity Condensed"/>
                <a:ea typeface="Lucidity Condensed"/>
                <a:cs typeface="Lucidity Condensed"/>
                <a:sym typeface="Lucidity Condensed"/>
              </a:rPr>
              <a:t>i</a:t>
            </a:r>
            <a:r>
              <a:rPr lang="en-US" sz="8820">
                <a:solidFill>
                  <a:srgbClr val="3E5893"/>
                </a:solidFill>
                <a:latin typeface="Lucidity Condensed"/>
                <a:ea typeface="Lucidity Condensed"/>
                <a:cs typeface="Lucidity Condensed"/>
                <a:sym typeface="Lucidity Condensed"/>
              </a:rPr>
              <a:t>ty</a:t>
            </a:r>
          </a:p>
        </p:txBody>
      </p:sp>
      <p:sp>
        <p:nvSpPr>
          <p:cNvPr name="TextBox 4" id="4"/>
          <p:cNvSpPr txBox="true"/>
          <p:nvPr/>
        </p:nvSpPr>
        <p:spPr>
          <a:xfrm rot="0">
            <a:off x="8878822" y="1573111"/>
            <a:ext cx="7846596"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The </a:t>
            </a:r>
            <a:r>
              <a:rPr lang="en-US" sz="2741">
                <a:solidFill>
                  <a:srgbClr val="3E5893"/>
                </a:solidFill>
                <a:latin typeface="Anantason"/>
                <a:ea typeface="Anantason"/>
                <a:cs typeface="Anantason"/>
                <a:sym typeface="Anantason"/>
              </a:rPr>
              <a:t>shipping industry is increasingly f</a:t>
            </a:r>
            <a:r>
              <a:rPr lang="en-US" sz="2741">
                <a:solidFill>
                  <a:srgbClr val="3E5893"/>
                </a:solidFill>
                <a:latin typeface="Anantason"/>
                <a:ea typeface="Anantason"/>
                <a:cs typeface="Anantason"/>
                <a:sym typeface="Anantason"/>
              </a:rPr>
              <a:t>ocused on reducing environmental impact through cleaner fuels, energy-efficient designs, and sustainable practices. Innovations in propulsion and emissions control help minimize pollution. These efforts contribute to protecting marine ecosystems while maintaining the benefits of global maritime transportation.</a:t>
            </a:r>
          </a:p>
        </p:txBody>
      </p:sp>
      <p:sp>
        <p:nvSpPr>
          <p:cNvPr name="Freeform 5" id="5"/>
          <p:cNvSpPr/>
          <p:nvPr/>
        </p:nvSpPr>
        <p:spPr>
          <a:xfrm flipH="false" flipV="false" rot="0">
            <a:off x="7340251" y="1028700"/>
            <a:ext cx="534389" cy="537320"/>
          </a:xfrm>
          <a:custGeom>
            <a:avLst/>
            <a:gdLst/>
            <a:ahLst/>
            <a:cxnLst/>
            <a:rect r="r" b="b" t="t" l="l"/>
            <a:pathLst>
              <a:path h="537320" w="534389">
                <a:moveTo>
                  <a:pt x="0" y="0"/>
                </a:moveTo>
                <a:lnTo>
                  <a:pt x="534389" y="0"/>
                </a:lnTo>
                <a:lnTo>
                  <a:pt x="534389" y="537320"/>
                </a:lnTo>
                <a:lnTo>
                  <a:pt x="0" y="537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562582" y="5696185"/>
            <a:ext cx="842192" cy="846811"/>
          </a:xfrm>
          <a:custGeom>
            <a:avLst/>
            <a:gdLst/>
            <a:ahLst/>
            <a:cxnLst/>
            <a:rect r="r" b="b" t="t" l="l"/>
            <a:pathLst>
              <a:path h="846811" w="842192">
                <a:moveTo>
                  <a:pt x="0" y="0"/>
                </a:moveTo>
                <a:lnTo>
                  <a:pt x="842192" y="0"/>
                </a:lnTo>
                <a:lnTo>
                  <a:pt x="842192" y="846810"/>
                </a:lnTo>
                <a:lnTo>
                  <a:pt x="0" y="8468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6790457" y="5936460"/>
            <a:ext cx="603227" cy="606535"/>
          </a:xfrm>
          <a:custGeom>
            <a:avLst/>
            <a:gdLst/>
            <a:ahLst/>
            <a:cxnLst/>
            <a:rect r="r" b="b" t="t" l="l"/>
            <a:pathLst>
              <a:path h="606535" w="603227">
                <a:moveTo>
                  <a:pt x="0" y="0"/>
                </a:moveTo>
                <a:lnTo>
                  <a:pt x="603226" y="0"/>
                </a:lnTo>
                <a:lnTo>
                  <a:pt x="603226"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647683">
            <a:off x="4627513" y="5241327"/>
            <a:ext cx="9504858" cy="5013813"/>
          </a:xfrm>
          <a:custGeom>
            <a:avLst/>
            <a:gdLst/>
            <a:ahLst/>
            <a:cxnLst/>
            <a:rect r="r" b="b" t="t" l="l"/>
            <a:pathLst>
              <a:path h="5013813" w="9504858">
                <a:moveTo>
                  <a:pt x="0" y="0"/>
                </a:moveTo>
                <a:lnTo>
                  <a:pt x="9504859" y="0"/>
                </a:lnTo>
                <a:lnTo>
                  <a:pt x="9504859" y="5013813"/>
                </a:lnTo>
                <a:lnTo>
                  <a:pt x="0" y="5013813"/>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8712194">
            <a:off x="2509702" y="6737221"/>
            <a:ext cx="25240972" cy="16704934"/>
          </a:xfrm>
          <a:custGeom>
            <a:avLst/>
            <a:gdLst/>
            <a:ahLst/>
            <a:cxnLst/>
            <a:rect r="r" b="b" t="t" l="l"/>
            <a:pathLst>
              <a:path h="16704934" w="25240972">
                <a:moveTo>
                  <a:pt x="0" y="0"/>
                </a:moveTo>
                <a:lnTo>
                  <a:pt x="25240972" y="0"/>
                </a:lnTo>
                <a:lnTo>
                  <a:pt x="25240972" y="16704935"/>
                </a:lnTo>
                <a:lnTo>
                  <a:pt x="0" y="16704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6654" y="972685"/>
            <a:ext cx="8814692" cy="2486845"/>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The Future Of Sh</a:t>
            </a:r>
            <a:r>
              <a:rPr lang="en-US" sz="10238">
                <a:solidFill>
                  <a:srgbClr val="3E5893"/>
                </a:solidFill>
                <a:latin typeface="Lucidity Condensed"/>
                <a:ea typeface="Lucidity Condensed"/>
                <a:cs typeface="Lucidity Condensed"/>
                <a:sym typeface="Lucidity Condensed"/>
              </a:rPr>
              <a:t>ipping</a:t>
            </a:r>
          </a:p>
        </p:txBody>
      </p:sp>
      <p:sp>
        <p:nvSpPr>
          <p:cNvPr name="TextBox 4" id="4"/>
          <p:cNvSpPr txBox="true"/>
          <p:nvPr/>
        </p:nvSpPr>
        <p:spPr>
          <a:xfrm rot="0">
            <a:off x="1971409" y="4077493"/>
            <a:ext cx="6770463" cy="3282288"/>
          </a:xfrm>
          <a:prstGeom prst="rect">
            <a:avLst/>
          </a:prstGeom>
        </p:spPr>
        <p:txBody>
          <a:bodyPr anchor="t" rtlCol="false" tIns="0" lIns="0" bIns="0" rIns="0">
            <a:spAutoFit/>
          </a:bodyPr>
          <a:lstStyle/>
          <a:p>
            <a:pPr algn="ctr">
              <a:lnSpc>
                <a:spcPts val="3289"/>
              </a:lnSpc>
              <a:spcBef>
                <a:spcPct val="0"/>
              </a:spcBef>
            </a:pPr>
            <a:r>
              <a:rPr lang="en-US" sz="2741">
                <a:solidFill>
                  <a:srgbClr val="3E5893"/>
                </a:solidFill>
                <a:latin typeface="Anantason"/>
                <a:ea typeface="Anantason"/>
                <a:cs typeface="Anantason"/>
                <a:sym typeface="Anantason"/>
              </a:rPr>
              <a:t>Advances in</a:t>
            </a:r>
            <a:r>
              <a:rPr lang="en-US" sz="2741">
                <a:solidFill>
                  <a:srgbClr val="3E5893"/>
                </a:solidFill>
                <a:latin typeface="Anantason"/>
                <a:ea typeface="Anantason"/>
                <a:cs typeface="Anantason"/>
                <a:sym typeface="Anantason"/>
              </a:rPr>
              <a:t> automation, digital</a:t>
            </a:r>
            <a:r>
              <a:rPr lang="en-US" sz="2741">
                <a:solidFill>
                  <a:srgbClr val="3E5893"/>
                </a:solidFill>
                <a:latin typeface="Anantason"/>
                <a:ea typeface="Anantason"/>
                <a:cs typeface="Anantason"/>
                <a:sym typeface="Anantason"/>
              </a:rPr>
              <a:t> technology, and sustainable energy are shaping the future of shipping. Smart navigation systems, alternative fuels, and innovative vessel designs promise greater efficiency and safety. As maritime technology evolves, ships will continue serving as vital links in the global economy.</a:t>
            </a:r>
          </a:p>
        </p:txBody>
      </p:sp>
      <p:sp>
        <p:nvSpPr>
          <p:cNvPr name="Freeform 5" id="5"/>
          <p:cNvSpPr/>
          <p:nvPr/>
        </p:nvSpPr>
        <p:spPr>
          <a:xfrm flipH="false" flipV="false" rot="0">
            <a:off x="2061091" y="1302005"/>
            <a:ext cx="776495" cy="780753"/>
          </a:xfrm>
          <a:custGeom>
            <a:avLst/>
            <a:gdLst/>
            <a:ahLst/>
            <a:cxnLst/>
            <a:rect r="r" b="b" t="t" l="l"/>
            <a:pathLst>
              <a:path h="780753" w="776495">
                <a:moveTo>
                  <a:pt x="0" y="0"/>
                </a:moveTo>
                <a:lnTo>
                  <a:pt x="776495" y="0"/>
                </a:lnTo>
                <a:lnTo>
                  <a:pt x="776495" y="780753"/>
                </a:lnTo>
                <a:lnTo>
                  <a:pt x="0" y="7807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971409" y="8269355"/>
            <a:ext cx="477929" cy="480551"/>
          </a:xfrm>
          <a:custGeom>
            <a:avLst/>
            <a:gdLst/>
            <a:ahLst/>
            <a:cxnLst/>
            <a:rect r="r" b="b" t="t" l="l"/>
            <a:pathLst>
              <a:path h="480551" w="477929">
                <a:moveTo>
                  <a:pt x="0" y="0"/>
                </a:moveTo>
                <a:lnTo>
                  <a:pt x="477929" y="0"/>
                </a:lnTo>
                <a:lnTo>
                  <a:pt x="477929" y="480551"/>
                </a:lnTo>
                <a:lnTo>
                  <a:pt x="0" y="4805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6389104" y="1476223"/>
            <a:ext cx="603227" cy="606535"/>
          </a:xfrm>
          <a:custGeom>
            <a:avLst/>
            <a:gdLst/>
            <a:ahLst/>
            <a:cxnLst/>
            <a:rect r="r" b="b" t="t" l="l"/>
            <a:pathLst>
              <a:path h="606535" w="603227">
                <a:moveTo>
                  <a:pt x="0" y="0"/>
                </a:moveTo>
                <a:lnTo>
                  <a:pt x="603227" y="0"/>
                </a:lnTo>
                <a:lnTo>
                  <a:pt x="603227" y="606535"/>
                </a:lnTo>
                <a:lnTo>
                  <a:pt x="0" y="6065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140558" y="3892958"/>
            <a:ext cx="7118742" cy="5855166"/>
          </a:xfrm>
          <a:custGeom>
            <a:avLst/>
            <a:gdLst/>
            <a:ahLst/>
            <a:cxnLst/>
            <a:rect r="r" b="b" t="t" l="l"/>
            <a:pathLst>
              <a:path h="5855166" w="7118742">
                <a:moveTo>
                  <a:pt x="0" y="0"/>
                </a:moveTo>
                <a:lnTo>
                  <a:pt x="7118742" y="0"/>
                </a:lnTo>
                <a:lnTo>
                  <a:pt x="7118742" y="5855166"/>
                </a:lnTo>
                <a:lnTo>
                  <a:pt x="0" y="5855166"/>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EFFF"/>
        </a:solidFill>
      </p:bgPr>
    </p:bg>
    <p:spTree>
      <p:nvGrpSpPr>
        <p:cNvPr id="1" name=""/>
        <p:cNvGrpSpPr/>
        <p:nvPr/>
      </p:nvGrpSpPr>
      <p:grpSpPr>
        <a:xfrm>
          <a:off x="0" y="0"/>
          <a:ext cx="0" cy="0"/>
          <a:chOff x="0" y="0"/>
          <a:chExt cx="0" cy="0"/>
        </a:xfrm>
      </p:grpSpPr>
      <p:sp>
        <p:nvSpPr>
          <p:cNvPr name="Freeform 2" id="2"/>
          <p:cNvSpPr/>
          <p:nvPr/>
        </p:nvSpPr>
        <p:spPr>
          <a:xfrm flipH="false" flipV="false" rot="0">
            <a:off x="2793877" y="4062284"/>
            <a:ext cx="1973151" cy="1842429"/>
          </a:xfrm>
          <a:custGeom>
            <a:avLst/>
            <a:gdLst/>
            <a:ahLst/>
            <a:cxnLst/>
            <a:rect r="r" b="b" t="t" l="l"/>
            <a:pathLst>
              <a:path h="1842429" w="1973151">
                <a:moveTo>
                  <a:pt x="0" y="0"/>
                </a:moveTo>
                <a:lnTo>
                  <a:pt x="1973151" y="0"/>
                </a:lnTo>
                <a:lnTo>
                  <a:pt x="1973151" y="1842430"/>
                </a:lnTo>
                <a:lnTo>
                  <a:pt x="0" y="1842430"/>
                </a:lnTo>
                <a:lnTo>
                  <a:pt x="0" y="0"/>
                </a:lnTo>
                <a:close/>
              </a:path>
            </a:pathLst>
          </a:custGeom>
          <a:blipFill>
            <a:blip r:embed="rId2"/>
            <a:stretch>
              <a:fillRect l="0" t="0" r="0" b="0"/>
            </a:stretch>
          </a:blipFill>
        </p:spPr>
      </p:sp>
      <p:sp>
        <p:nvSpPr>
          <p:cNvPr name="Freeform 3" id="3"/>
          <p:cNvSpPr/>
          <p:nvPr/>
        </p:nvSpPr>
        <p:spPr>
          <a:xfrm flipH="false" flipV="false" rot="0">
            <a:off x="5589695" y="4219088"/>
            <a:ext cx="2067242" cy="1842429"/>
          </a:xfrm>
          <a:custGeom>
            <a:avLst/>
            <a:gdLst/>
            <a:ahLst/>
            <a:cxnLst/>
            <a:rect r="r" b="b" t="t" l="l"/>
            <a:pathLst>
              <a:path h="1842429" w="2067242">
                <a:moveTo>
                  <a:pt x="0" y="0"/>
                </a:moveTo>
                <a:lnTo>
                  <a:pt x="2067242" y="0"/>
                </a:lnTo>
                <a:lnTo>
                  <a:pt x="2067242" y="1842429"/>
                </a:lnTo>
                <a:lnTo>
                  <a:pt x="0" y="1842429"/>
                </a:lnTo>
                <a:lnTo>
                  <a:pt x="0" y="0"/>
                </a:lnTo>
                <a:close/>
              </a:path>
            </a:pathLst>
          </a:custGeom>
          <a:blipFill>
            <a:blip r:embed="rId3"/>
            <a:stretch>
              <a:fillRect l="0" t="0" r="0" b="0"/>
            </a:stretch>
          </a:blipFill>
        </p:spPr>
      </p:sp>
      <p:sp>
        <p:nvSpPr>
          <p:cNvPr name="Freeform 4" id="4"/>
          <p:cNvSpPr/>
          <p:nvPr/>
        </p:nvSpPr>
        <p:spPr>
          <a:xfrm flipH="false" flipV="false" rot="0">
            <a:off x="8479604" y="4443953"/>
            <a:ext cx="1673011" cy="1079092"/>
          </a:xfrm>
          <a:custGeom>
            <a:avLst/>
            <a:gdLst/>
            <a:ahLst/>
            <a:cxnLst/>
            <a:rect r="r" b="b" t="t" l="l"/>
            <a:pathLst>
              <a:path h="1079092" w="1673011">
                <a:moveTo>
                  <a:pt x="0" y="0"/>
                </a:moveTo>
                <a:lnTo>
                  <a:pt x="1673012" y="0"/>
                </a:lnTo>
                <a:lnTo>
                  <a:pt x="1673012" y="1079092"/>
                </a:lnTo>
                <a:lnTo>
                  <a:pt x="0" y="1079092"/>
                </a:lnTo>
                <a:lnTo>
                  <a:pt x="0" y="0"/>
                </a:lnTo>
                <a:close/>
              </a:path>
            </a:pathLst>
          </a:custGeom>
          <a:blipFill>
            <a:blip r:embed="rId4"/>
            <a:stretch>
              <a:fillRect l="0" t="0" r="0" b="0"/>
            </a:stretch>
          </a:blipFill>
        </p:spPr>
      </p:sp>
      <p:sp>
        <p:nvSpPr>
          <p:cNvPr name="Freeform 5" id="5"/>
          <p:cNvSpPr/>
          <p:nvPr/>
        </p:nvSpPr>
        <p:spPr>
          <a:xfrm flipH="false" flipV="false" rot="0">
            <a:off x="10974182" y="4219088"/>
            <a:ext cx="1672005" cy="1842429"/>
          </a:xfrm>
          <a:custGeom>
            <a:avLst/>
            <a:gdLst/>
            <a:ahLst/>
            <a:cxnLst/>
            <a:rect r="r" b="b" t="t" l="l"/>
            <a:pathLst>
              <a:path h="1842429" w="1672005">
                <a:moveTo>
                  <a:pt x="0" y="0"/>
                </a:moveTo>
                <a:lnTo>
                  <a:pt x="1672005" y="0"/>
                </a:lnTo>
                <a:lnTo>
                  <a:pt x="1672005" y="1842429"/>
                </a:lnTo>
                <a:lnTo>
                  <a:pt x="0" y="1842429"/>
                </a:lnTo>
                <a:lnTo>
                  <a:pt x="0" y="0"/>
                </a:lnTo>
                <a:close/>
              </a:path>
            </a:pathLst>
          </a:custGeom>
          <a:blipFill>
            <a:blip r:embed="rId5"/>
            <a:stretch>
              <a:fillRect l="0" t="0" r="0" b="0"/>
            </a:stretch>
          </a:blipFill>
        </p:spPr>
      </p:sp>
      <p:sp>
        <p:nvSpPr>
          <p:cNvPr name="Freeform 6" id="6"/>
          <p:cNvSpPr/>
          <p:nvPr/>
        </p:nvSpPr>
        <p:spPr>
          <a:xfrm flipH="false" flipV="false" rot="0">
            <a:off x="13264254" y="4253207"/>
            <a:ext cx="2229869" cy="1842429"/>
          </a:xfrm>
          <a:custGeom>
            <a:avLst/>
            <a:gdLst/>
            <a:ahLst/>
            <a:cxnLst/>
            <a:rect r="r" b="b" t="t" l="l"/>
            <a:pathLst>
              <a:path h="1842429" w="2229869">
                <a:moveTo>
                  <a:pt x="0" y="0"/>
                </a:moveTo>
                <a:lnTo>
                  <a:pt x="2229869" y="0"/>
                </a:lnTo>
                <a:lnTo>
                  <a:pt x="2229869" y="1842429"/>
                </a:lnTo>
                <a:lnTo>
                  <a:pt x="0" y="1842429"/>
                </a:lnTo>
                <a:lnTo>
                  <a:pt x="0" y="0"/>
                </a:lnTo>
                <a:close/>
              </a:path>
            </a:pathLst>
          </a:custGeom>
          <a:blipFill>
            <a:blip r:embed="rId6"/>
            <a:stretch>
              <a:fillRect l="0" t="0" r="0" b="0"/>
            </a:stretch>
          </a:blipFill>
        </p:spPr>
      </p:sp>
      <p:sp>
        <p:nvSpPr>
          <p:cNvPr name="Freeform 7" id="7"/>
          <p:cNvSpPr/>
          <p:nvPr/>
        </p:nvSpPr>
        <p:spPr>
          <a:xfrm flipH="false" flipV="false" rot="0">
            <a:off x="2722236" y="7057038"/>
            <a:ext cx="2045672" cy="1079092"/>
          </a:xfrm>
          <a:custGeom>
            <a:avLst/>
            <a:gdLst/>
            <a:ahLst/>
            <a:cxnLst/>
            <a:rect r="r" b="b" t="t" l="l"/>
            <a:pathLst>
              <a:path h="1079092" w="2045672">
                <a:moveTo>
                  <a:pt x="0" y="0"/>
                </a:moveTo>
                <a:lnTo>
                  <a:pt x="2045672" y="0"/>
                </a:lnTo>
                <a:lnTo>
                  <a:pt x="2045672" y="1079092"/>
                </a:lnTo>
                <a:lnTo>
                  <a:pt x="0" y="1079092"/>
                </a:lnTo>
                <a:lnTo>
                  <a:pt x="0" y="0"/>
                </a:lnTo>
                <a:close/>
              </a:path>
            </a:pathLst>
          </a:custGeom>
          <a:blipFill>
            <a:blip r:embed="rId7"/>
            <a:stretch>
              <a:fillRect l="0" t="0" r="0" b="0"/>
            </a:stretch>
          </a:blipFill>
        </p:spPr>
      </p:sp>
      <p:sp>
        <p:nvSpPr>
          <p:cNvPr name="Freeform 8" id="8"/>
          <p:cNvSpPr/>
          <p:nvPr/>
        </p:nvSpPr>
        <p:spPr>
          <a:xfrm flipH="false" flipV="false" rot="0">
            <a:off x="5437562" y="7056681"/>
            <a:ext cx="2128210" cy="992278"/>
          </a:xfrm>
          <a:custGeom>
            <a:avLst/>
            <a:gdLst/>
            <a:ahLst/>
            <a:cxnLst/>
            <a:rect r="r" b="b" t="t" l="l"/>
            <a:pathLst>
              <a:path h="992278" w="2128210">
                <a:moveTo>
                  <a:pt x="0" y="0"/>
                </a:moveTo>
                <a:lnTo>
                  <a:pt x="2128210" y="0"/>
                </a:lnTo>
                <a:lnTo>
                  <a:pt x="2128210" y="992277"/>
                </a:lnTo>
                <a:lnTo>
                  <a:pt x="0" y="992277"/>
                </a:lnTo>
                <a:lnTo>
                  <a:pt x="0" y="0"/>
                </a:lnTo>
                <a:close/>
              </a:path>
            </a:pathLst>
          </a:custGeom>
          <a:blipFill>
            <a:blip r:embed="rId8"/>
            <a:stretch>
              <a:fillRect l="0" t="0" r="0" b="0"/>
            </a:stretch>
          </a:blipFill>
        </p:spPr>
      </p:sp>
      <p:sp>
        <p:nvSpPr>
          <p:cNvPr name="Freeform 9" id="9"/>
          <p:cNvSpPr/>
          <p:nvPr/>
        </p:nvSpPr>
        <p:spPr>
          <a:xfrm flipH="false" flipV="false" rot="0">
            <a:off x="8099394" y="6631605"/>
            <a:ext cx="2240036" cy="1842429"/>
          </a:xfrm>
          <a:custGeom>
            <a:avLst/>
            <a:gdLst/>
            <a:ahLst/>
            <a:cxnLst/>
            <a:rect r="r" b="b" t="t" l="l"/>
            <a:pathLst>
              <a:path h="1842429" w="2240036">
                <a:moveTo>
                  <a:pt x="0" y="0"/>
                </a:moveTo>
                <a:lnTo>
                  <a:pt x="2240036" y="0"/>
                </a:lnTo>
                <a:lnTo>
                  <a:pt x="2240036" y="1842429"/>
                </a:lnTo>
                <a:lnTo>
                  <a:pt x="0" y="1842429"/>
                </a:lnTo>
                <a:lnTo>
                  <a:pt x="0" y="0"/>
                </a:lnTo>
                <a:close/>
              </a:path>
            </a:pathLst>
          </a:custGeom>
          <a:blipFill>
            <a:blip r:embed="rId9"/>
            <a:stretch>
              <a:fillRect l="0" t="0" r="0" b="0"/>
            </a:stretch>
          </a:blipFill>
        </p:spPr>
      </p:sp>
      <p:sp>
        <p:nvSpPr>
          <p:cNvPr name="Freeform 10" id="10"/>
          <p:cNvSpPr/>
          <p:nvPr/>
        </p:nvSpPr>
        <p:spPr>
          <a:xfrm flipH="false" flipV="false" rot="0">
            <a:off x="10877057" y="6385199"/>
            <a:ext cx="2073057" cy="1842429"/>
          </a:xfrm>
          <a:custGeom>
            <a:avLst/>
            <a:gdLst/>
            <a:ahLst/>
            <a:cxnLst/>
            <a:rect r="r" b="b" t="t" l="l"/>
            <a:pathLst>
              <a:path h="1842429" w="2073057">
                <a:moveTo>
                  <a:pt x="0" y="0"/>
                </a:moveTo>
                <a:lnTo>
                  <a:pt x="2073057" y="0"/>
                </a:lnTo>
                <a:lnTo>
                  <a:pt x="2073057" y="1842430"/>
                </a:lnTo>
                <a:lnTo>
                  <a:pt x="0" y="1842430"/>
                </a:lnTo>
                <a:lnTo>
                  <a:pt x="0" y="0"/>
                </a:lnTo>
                <a:close/>
              </a:path>
            </a:pathLst>
          </a:custGeom>
          <a:blipFill>
            <a:blip r:embed="rId10"/>
            <a:stretch>
              <a:fillRect l="0" t="0" r="0" b="0"/>
            </a:stretch>
          </a:blipFill>
        </p:spPr>
      </p:sp>
      <p:sp>
        <p:nvSpPr>
          <p:cNvPr name="Freeform 11" id="11"/>
          <p:cNvSpPr/>
          <p:nvPr/>
        </p:nvSpPr>
        <p:spPr>
          <a:xfrm flipH="false" flipV="false" rot="0">
            <a:off x="13451068" y="6351554"/>
            <a:ext cx="2114697" cy="1842429"/>
          </a:xfrm>
          <a:custGeom>
            <a:avLst/>
            <a:gdLst/>
            <a:ahLst/>
            <a:cxnLst/>
            <a:rect r="r" b="b" t="t" l="l"/>
            <a:pathLst>
              <a:path h="1842429" w="2114697">
                <a:moveTo>
                  <a:pt x="0" y="0"/>
                </a:moveTo>
                <a:lnTo>
                  <a:pt x="2114696" y="0"/>
                </a:lnTo>
                <a:lnTo>
                  <a:pt x="2114696" y="1842430"/>
                </a:lnTo>
                <a:lnTo>
                  <a:pt x="0" y="1842430"/>
                </a:lnTo>
                <a:lnTo>
                  <a:pt x="0" y="0"/>
                </a:lnTo>
                <a:close/>
              </a:path>
            </a:pathLst>
          </a:custGeom>
          <a:blipFill>
            <a:blip r:embed="rId11"/>
            <a:stretch>
              <a:fillRect l="0" t="0" r="0" b="0"/>
            </a:stretch>
          </a:blipFill>
        </p:spPr>
      </p:sp>
      <p:sp>
        <p:nvSpPr>
          <p:cNvPr name="TextBox 12" id="12"/>
          <p:cNvSpPr txBox="true"/>
          <p:nvPr/>
        </p:nvSpPr>
        <p:spPr>
          <a:xfrm rot="0">
            <a:off x="4736654" y="972685"/>
            <a:ext cx="8814692" cy="1292118"/>
          </a:xfrm>
          <a:prstGeom prst="rect">
            <a:avLst/>
          </a:prstGeom>
        </p:spPr>
        <p:txBody>
          <a:bodyPr anchor="t" rtlCol="false" tIns="0" lIns="0" bIns="0" rIns="0">
            <a:spAutoFit/>
          </a:bodyPr>
          <a:lstStyle/>
          <a:p>
            <a:pPr algn="ctr">
              <a:lnSpc>
                <a:spcPts val="9419"/>
              </a:lnSpc>
            </a:pPr>
            <a:r>
              <a:rPr lang="en-US" sz="10238">
                <a:solidFill>
                  <a:srgbClr val="3E5893"/>
                </a:solidFill>
                <a:latin typeface="Lucidity Condensed"/>
                <a:ea typeface="Lucidity Condensed"/>
                <a:cs typeface="Lucidity Condensed"/>
                <a:sym typeface="Lucidity Condensed"/>
              </a:rPr>
              <a:t>Resource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DAHXNWiAgwY</dc:identifier>
  <dcterms:modified xsi:type="dcterms:W3CDTF">2011-08-01T06:04:30Z</dcterms:modified>
  <cp:revision>1</cp:revision>
  <dc:title>Blue Playful Ships Masters Of The Seas Presentation</dc:title>
</cp:coreProperties>
</file>